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17911334983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5400" b="1">
                <a:solidFill>
                  <a:srgbClr val="0D9488"/>
                </a:solidFill>
              </a:defRPr>
            </a:pPr>
            <a:r>
              <a:t>[PROJECT NAME]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 b="0">
                <a:solidFill>
                  <a:srgbClr val="FFFFFF"/>
                </a:solidFill>
              </a:defRPr>
            </a:pPr>
            <a:r>
              <a:t>[ONE-LINE VALUE PROPOSITION]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0">
                <a:solidFill>
                  <a:srgbClr val="FFFFFF"/>
                </a:solidFill>
              </a:defRPr>
            </a:pPr>
            <a:r>
              <a:t>Team: [TEAM NAME] | Track: [TRACK]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0">
                <a:solidFill>
                  <a:srgbClr val="C8C8C8"/>
                </a:solidFill>
              </a:defRPr>
            </a:pPr>
            <a:r>
              <a:t>[SPACE FOR YOU TO FILL - ADD LOGOS OR DETAILS HERE]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17911334983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000" b="1">
                <a:solidFill>
                  <a:srgbClr val="0D9488"/>
                </a:solidFill>
              </a:defRPr>
            </a:pPr>
            <a:r>
              <a:t>The Investor-Safety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0">
                <a:solidFill>
                  <a:srgbClr val="FFFFFF"/>
                </a:solidFill>
              </a:defRPr>
            </a:pPr>
            <a:r>
              <a:t>• Target Audience: First-time retail investors and regional language users.</a:t>
            </a:r>
            <a:br/>
            <a:r>
              <a:t>• Pattern: Scammers use guaranteed returns, urgency, and SEBI impersonation.</a:t>
            </a:r>
            <a:br/>
            <a:r>
              <a:t>• Gap: Existing platforms focus on trading, lacking a safe space to verify claims.</a:t>
            </a:r>
            <a:br/>
            <a:r>
              <a:t>• Statistic: [One verified source or statistic here]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17911334983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000" b="1">
                <a:solidFill>
                  <a:srgbClr val="0D9488"/>
                </a:solidFill>
              </a:defRPr>
            </a:pPr>
            <a:r>
              <a:t>Target Users &amp;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0">
                <a:solidFill>
                  <a:srgbClr val="FFFFFF"/>
                </a:solidFill>
              </a:defRPr>
            </a:pPr>
            <a:r>
              <a:t>Users:</a:t>
            </a:r>
            <a:br/>
            <a:r>
              <a:t>• First-time investors (18-35)</a:t>
            </a:r>
            <a:br/>
            <a:r>
              <a:t>• Regional-language users (TA/HI/TE/ML/KN)</a:t>
            </a:r>
            <a:br/>
            <a:r>
              <a:t>• Senior citizens facing UPI pressure</a:t>
            </a:r>
            <a:br/>
            <a:br/>
            <a:r>
              <a:t>Differentiators:</a:t>
            </a:r>
            <a:br/>
            <a:r>
              <a:t>• Explainability by construction (no opaque AI decisions)</a:t>
            </a:r>
            <a:br/>
            <a:r>
              <a:t>• Honest uncertainty as UX</a:t>
            </a:r>
            <a:br/>
            <a:r>
              <a:t>• Privacy as default (redacted, consent-gated)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17911334983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000" b="1">
                <a:solidFill>
                  <a:srgbClr val="0D9488"/>
                </a:solidFill>
              </a:defRPr>
            </a:pPr>
            <a:r>
              <a:t>From Suspicious Message to Safer Action</a:t>
            </a:r>
          </a:p>
        </p:txBody>
      </p:sp>
      <p:pic>
        <p:nvPicPr>
          <p:cNvPr id="4" name="Picture 3" descr="ppt_workflow_17911335165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13716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17911334983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000" b="1">
                <a:solidFill>
                  <a:srgbClr val="0D9488"/>
                </a:solidFill>
              </a:defRPr>
            </a:pPr>
            <a:r>
              <a:t>System Architecture &amp; Tech Stack</a:t>
            </a:r>
          </a:p>
        </p:txBody>
      </p:sp>
      <p:pic>
        <p:nvPicPr>
          <p:cNvPr id="4" name="Picture 3" descr="ppt_techstack_17911335318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4572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22860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0">
                <a:solidFill>
                  <a:srgbClr val="FFFFFF"/>
                </a:solidFill>
              </a:defRPr>
            </a:pPr>
            <a:r>
              <a:t>• Frontend: Next.js, Tailwind CSS</a:t>
            </a:r>
            <a:br/>
            <a:r>
              <a:t>• Backend: FastAPI, Pydantic</a:t>
            </a:r>
            <a:br/>
            <a:r>
              <a:t>• Data: PostgreSQL, ChromaDB</a:t>
            </a:r>
            <a:br/>
            <a:r>
              <a:t>• AI: Hugging Face, IndicBERT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17911334983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000" b="1">
                <a:solidFill>
                  <a:srgbClr val="0D9488"/>
                </a:solidFill>
              </a:defRPr>
            </a:pPr>
            <a:r>
              <a:t>Explainable Detection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0">
                <a:solidFill>
                  <a:srgbClr val="FFFFFF"/>
                </a:solidFill>
              </a:defRPr>
            </a:pPr>
            <a:r>
              <a:t>Detection Engine:</a:t>
            </a:r>
            <a:br/>
            <a:r>
              <a:t>• Deterministic rules for guaranteed returns, urgency, fake regulators.</a:t>
            </a:r>
            <a:br/>
            <a:r>
              <a:t>• No opaque LLM in the critical safety path.</a:t>
            </a:r>
            <a:br/>
            <a:br/>
            <a:r>
              <a:t>Privacy-First Pipeline:</a:t>
            </a:r>
            <a:br/>
            <a:r>
              <a:t>• Local PII redaction (PAN, Aadhaar, Phone, Email) before processing.</a:t>
            </a:r>
            <a:br/>
            <a:r>
              <a:t>• No raw data hoarding. 72-hour auto-expiry.</a:t>
            </a:r>
            <a:br/>
            <a:r>
              <a:t>• Consent-gated evidence locker.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17911334983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000" b="1">
                <a:solidFill>
                  <a:srgbClr val="0D9488"/>
                </a:solidFill>
              </a:defRPr>
            </a:pPr>
            <a:r>
              <a:t>Education, Pause &amp; Multilingual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0">
                <a:solidFill>
                  <a:srgbClr val="FFFFFF"/>
                </a:solidFill>
              </a:defRPr>
            </a:pPr>
            <a:r>
              <a:t>Behavioural Pause:</a:t>
            </a:r>
            <a:br/>
            <a:r>
              <a:t>• A 30-second checklist interrupting the psychology of urgency in scams.</a:t>
            </a:r>
            <a:br/>
            <a:br/>
            <a:r>
              <a:t>Multilingual Education Hub:</a:t>
            </a:r>
            <a:br/>
            <a:r>
              <a:t>• 6+ Languages supported (English, Tamil, Hindi, Telugu, etc.)</a:t>
            </a:r>
            <a:br/>
            <a:r>
              <a:t>• Offline fallback capability for low-bandwidth users.</a:t>
            </a:r>
            <a:br/>
            <a:r>
              <a:t>• Raksha Guide Chatbot: RAG-based multilingual assistance.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17911334983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000" b="1">
                <a:solidFill>
                  <a:srgbClr val="0D9488"/>
                </a:solidFill>
              </a:defRPr>
            </a:pPr>
            <a:r>
              <a:t>Security &amp; Threat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0">
                <a:solidFill>
                  <a:srgbClr val="FFFFFF"/>
                </a:solidFill>
              </a:defRPr>
            </a:pPr>
            <a:r>
              <a:t>• Network-Free URL Checker: Eliminates SSRF risks by analyzing strings without opening sockets.</a:t>
            </a:r>
            <a:br/>
            <a:r>
              <a:t>• Prompt-Injection Resistance: Deterministic rules bypass LLM vulnerabilities.</a:t>
            </a:r>
            <a:br/>
            <a:r>
              <a:t>• Rate Limiting: Strict sliding-window limits per IP.</a:t>
            </a:r>
            <a:br/>
            <a:r>
              <a:t>• Secure Logging: Secret-shaped and identifier-shaped values scrubbed from logs.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17911334983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000" b="1">
                <a:solidFill>
                  <a:srgbClr val="0D9488"/>
                </a:solidFill>
              </a:defRPr>
            </a:pPr>
            <a:r>
              <a:t>Evaluation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0">
                <a:solidFill>
                  <a:srgbClr val="FFFFFF"/>
                </a:solidFill>
              </a:defRPr>
            </a:pPr>
            <a:r>
              <a:t>• Evaluated against a fixed synthetic dataset measuring false positives (FP) and false negatives (FN).</a:t>
            </a:r>
            <a:br/>
            <a:r>
              <a:t>• Current Status: 10/10 evaluation cases pass in backend suite.</a:t>
            </a:r>
            <a:br/>
            <a:r>
              <a:t>• No prohibited advice tokens in API responses.</a:t>
            </a:r>
            <a:br/>
            <a:r>
              <a:t>• Provenance-first verification with checksummed audit trails.</a:t>
            </a:r>
            <a:br/>
            <a:r>
              <a:t>• Metric Placeholders: [Latency], [Precision by Language]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17911334983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000" b="1">
                <a:solidFill>
                  <a:srgbClr val="0D9488"/>
                </a:solidFill>
              </a:defRPr>
            </a:pPr>
            <a:r>
              <a:t>Roadmap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0">
                <a:solidFill>
                  <a:srgbClr val="FFFFFF"/>
                </a:solidFill>
              </a:defRPr>
            </a:pPr>
            <a:r>
              <a:t>1. Live SEBI intermediaries integration (replacing fixtures).</a:t>
            </a:r>
            <a:br/>
            <a:r>
              <a:t>2. OCR for screenshot analysis expansion.</a:t>
            </a:r>
            <a:br/>
            <a:r>
              <a:t>3. Community-reviewed rule packs.</a:t>
            </a:r>
            <a:br/>
            <a:r>
              <a:t>4. Feature-phone SMS/IVR integrations.</a:t>
            </a:r>
            <a:br/>
            <a:br/>
            <a:r>
              <a:t>NiveshRaksha: Pause. Verify. Protect.</a:t>
            </a:r>
            <a:br/>
            <a:r>
              <a:t>[Contact details / Demo link]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