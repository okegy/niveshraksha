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5400" b="1">
                <a:solidFill>
                  <a:srgbClr val="1E1E1E"/>
                </a:solidFill>
              </a:defRPr>
            </a:pPr>
            <a:r>
              <a:t>[Team Name]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18288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>
                <a:solidFill>
                  <a:srgbClr val="1E1E1E"/>
                </a:solidFill>
              </a:defRPr>
            </a:pPr>
            <a:r>
              <a:t>Team Leader Name: [Leader Name]</a:t>
            </a:r>
            <a:br/>
            <a:r>
              <a:t>Team Leader Mobile Number: [Mobile Number]</a:t>
            </a:r>
            <a:br/>
            <a:r>
              <a:t>Team Leader Email: [Email]</a:t>
            </a:r>
            <a:br/>
            <a:r>
              <a:t>No. of Team Members: [Number]</a:t>
            </a:r>
            <a:br/>
            <a:r>
              <a:t>Mentor Name (if any): [Mentor Name]</a:t>
            </a:r>
            <a:br/>
            <a:r>
              <a:t>Members: [Member Names]</a:t>
            </a:r>
            <a:br/>
            <a:r>
              <a:t>College: [College Name]</a:t>
            </a:r>
            <a:br/>
            <a:br/>
            <a:r>
              <a:t>Project: NiveshRaksha - Privacy-First Safety Platform for Retail Investors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1E1E1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Domain and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Digital Fraud and Scam Resilience. First-time retail investors are targeted by sophisticated scams using guaranteed returns, urgency, and SEBI impersonation on WhatsApp/Telegram. Existing platforms focus on trading, lacking a safe space to verify claims without judgement.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1E1E1E"/>
                </a:solidFill>
              </a:defRPr>
            </a:pPr>
            <a:r>
              <a:t>VULNERABILITY</a:t>
            </a:r>
            <a:br/>
            <a:r>
              <a:t>First-time investors targeted via messaging apps.</a:t>
            </a:r>
            <a:br/>
            <a:br/>
            <a:r>
              <a:t>TACTICS</a:t>
            </a:r>
            <a:br/>
            <a:r>
              <a:t>Scammers use urgency, guaranteed returns, and fake IDs.</a:t>
            </a:r>
            <a:br/>
            <a:br/>
            <a:r>
              <a:t>LACK OF VERIFICATION</a:t>
            </a:r>
            <a:br/>
            <a:r>
              <a:t>No easy way to check claims before losing money.</a:t>
            </a:r>
            <a:br/>
            <a:br/>
            <a:r>
              <a:t>REGIONAL BARRIER</a:t>
            </a:r>
            <a:br/>
            <a:r>
              <a:t>Most safety content is in English jargon.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200400"/>
            <a:ext cx="548640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4F3A65"/>
                </a:solidFill>
              </a:defRPr>
            </a:pPr>
            <a:r>
              <a:t>14,209 Scams Flagged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1E1E1E"/>
                </a:solidFill>
              </a:defRPr>
            </a:pPr>
            <a:r>
              <a:t>A single bad decision can wipe out savings.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Idea/Solution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NiveshRaksha provides a privacy-first platform that helps investors identify red flags before they lose money. It uses deterministic rules to detect urgency and unrealistic guarantees without opaque AI hallucinations.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1E1E1E"/>
                </a:solidFill>
              </a:defRPr>
            </a:pPr>
            <a:r>
              <a:t>✓ Analyzes messages for urgency, guaranteed returns, credentials.</a:t>
            </a:r>
            <a:br/>
            <a:br/>
            <a:r>
              <a:t>✓ Verifies advisors against official (mock) records.</a:t>
            </a:r>
            <a:br/>
            <a:br/>
            <a:r>
              <a:t>✓ Provides a 30-Second Pause checklist to break psychology.</a:t>
            </a:r>
            <a:br/>
            <a:br/>
            <a:r>
              <a:t>✓ Delivers localized Education Hub (English, Tamil, etc.).</a:t>
            </a:r>
            <a:br/>
            <a:br/>
            <a:r>
              <a:t>✓ Ensures privacy: local PII redaction, no raw data hoarding.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3832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1E1E1E"/>
                </a:solidFill>
              </a:defRPr>
            </a:pPr>
            <a:r>
              <a:t>TRADITIONAL VS NIVESHRAKSHA</a:t>
            </a:r>
            <a:br/>
            <a:br/>
            <a:r>
              <a:t>Metric       Traditional         NiveshRaksha</a:t>
            </a:r>
            <a:br/>
            <a:r>
              <a:t>Detection    Guesswork           Explainable rules</a:t>
            </a:r>
            <a:br/>
            <a:r>
              <a:t>Privacy      Data hoarding       Local Redaction</a:t>
            </a:r>
            <a:br/>
            <a:r>
              <a:t>Action       Panic/Loss          Safe Next Steps</a:t>
            </a:r>
            <a:br/>
            <a:r>
              <a:t>Language     English only        Multilingual (6+)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Existing Vs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Traditional safety tools are either complex compliance portals for institutions or generic advice. NiveshRaksha acts exactly at the moment of panic with explainable, deterministic detection.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5029200" cy="2286000"/>
          </a:xfrm>
          <a:prstGeom prst="rect">
            <a:avLst/>
          </a:prstGeom>
          <a:solidFill>
            <a:srgbClr val="FFF5F5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963232"/>
                </a:solidFill>
              </a:defRPr>
            </a:pPr>
            <a:r>
              <a:t>EXISTING · TODAY</a:t>
            </a:r>
            <a:br/>
            <a:br/>
            <a:r>
              <a:t>✕ Focuses on trading, not safety</a:t>
            </a:r>
            <a:br/>
            <a:r>
              <a:t>✕ Black-box ML models hallucinate risk</a:t>
            </a:r>
            <a:br/>
            <a:r>
              <a:t>✕ Requires PII to sign up</a:t>
            </a:r>
            <a:br/>
            <a:r>
              <a:t>✕ English only, alienating Bharat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5029200" cy="2286000"/>
          </a:xfrm>
          <a:prstGeom prst="rect">
            <a:avLst/>
          </a:prstGeom>
          <a:solidFill>
            <a:srgbClr val="F5FFF5"/>
          </a:solidFill>
          <a:ln>
            <a:solidFill>
              <a:srgbClr val="53A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1E641E"/>
                </a:solidFill>
              </a:defRPr>
            </a:pPr>
            <a:r>
              <a:t>PROPOSED · WITH NIVESHRAKSHA</a:t>
            </a:r>
            <a:br/>
            <a:br/>
            <a:r>
              <a:t>✓ Privacy-first, no accounts needed</a:t>
            </a:r>
            <a:br/>
            <a:r>
              <a:t>✓ Deterministic, explainable rule engine</a:t>
            </a:r>
            <a:br/>
            <a:r>
              <a:t>✓ Verifies claims against official sources</a:t>
            </a:r>
            <a:br/>
            <a:r>
              <a:t>✓ Multilingual UI and chatbot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Innovation &amp; USP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1. Explainable by construction: no opaque scores. 2. Honest uncertainty: 'not found' is first-class. 3. Network-free URL checking (SSRF safe). 4. Privacy as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502920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4F3A65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4F3A65"/>
                </a:solidFill>
              </a:defRPr>
            </a:pPr>
            <a:r>
              <a:t>DETERMINISTIC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1E1E1E"/>
                </a:solidFill>
              </a:defRPr>
            </a:pPr>
            <a:r>
              <a:t>Flags are matched text plus fixed explanations. No LLM hallucination for critical safety.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502920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4F3A65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4F3A65"/>
                </a:solidFill>
              </a:defRPr>
            </a:pPr>
            <a:r>
              <a:t>HONEST UNCERTAINTY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1E1E1E"/>
                </a:solidFill>
              </a:defRPr>
            </a:pPr>
            <a:r>
              <a:t>'Could not verify' and 'no red flags' are explicit states. We never claim a clean link is 100% 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846320"/>
            <a:ext cx="502920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4F3A65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4F3A65"/>
                </a:solidFill>
              </a:defRPr>
            </a:pPr>
            <a:r>
              <a:t>NETWORK-FREE URL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303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1E1E1E"/>
                </a:solidFill>
              </a:defRPr>
            </a:pPr>
            <a:r>
              <a:t>Analyzes URLs via static string matching (punycode, IP literals) without opening sockets.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846320"/>
            <a:ext cx="502920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4F3A65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37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4F3A65"/>
                </a:solidFill>
              </a:defRPr>
            </a:pPr>
            <a:r>
              <a:t>BEHAVIOURAL PAUSE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3035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1E1E1E"/>
                </a:solidFill>
              </a:defRPr>
            </a:pPr>
            <a:r>
              <a:t>30-second checklist interrupts scammer's urgency and forces active acknowledgment of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Objective &amp; Scope of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Objectives: provide a safe space to verify claims, interrupt scam psychology, and prepare evidence for reporting. Scope: First-time investors, regional languages, web/mobile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50292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1E1E1E"/>
                </a:solidFill>
              </a:defRPr>
            </a:pPr>
            <a:r>
              <a:t>OBJECTIVES</a:t>
            </a:r>
            <a:br/>
            <a:br/>
            <a:r>
              <a:t>✓ Detect scam communication deterministically</a:t>
            </a:r>
            <a:br/>
            <a:r>
              <a:t>✓ Act before money moves (Golden Hour)</a:t>
            </a:r>
            <a:br/>
            <a:r>
              <a:t>✓ Prepare evidence for official reporting</a:t>
            </a:r>
            <a:br/>
            <a:r>
              <a:t>✓ Educate in regional 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00400"/>
            <a:ext cx="502920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1E1E1E"/>
                </a:solidFill>
              </a:defRPr>
            </a:pPr>
            <a:r>
              <a:t>SCOPE</a:t>
            </a:r>
            <a:br/>
            <a:br/>
            <a:r>
              <a:t>Users      First-time &amp; Senior Retail Investors</a:t>
            </a:r>
            <a:br/>
            <a:r>
              <a:t>Languages  English, Tamil, Hindi, Telugu, etc.</a:t>
            </a:r>
            <a:br/>
            <a:r>
              <a:t>Input      Text, URLs, Screenshots (OCR)</a:t>
            </a:r>
            <a:br/>
            <a:r>
              <a:t>Delivery   Web (Next.js) &amp; Mobile-friendly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Four layers — Frontend: Next.js + Tailwind. API: FastAPI. Safety Layer: Redaction &amp; Deterministic Rules. Data Layer: PostgreSQL + Local Vector Store for Chatbot.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22860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4F3A65"/>
                </a:solidFill>
              </a:defRPr>
            </a:pPr>
            <a: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>
                <a:solidFill>
                  <a:srgbClr val="1E1E1E"/>
                </a:solidFill>
              </a:defRPr>
            </a:pPr>
            <a:r>
              <a:t>Next.js dashboard</a:t>
            </a:r>
            <a:br/>
            <a:r>
              <a:t>TypeScript</a:t>
            </a:r>
            <a:br/>
            <a:r>
              <a:t>Tailwind CSS</a:t>
            </a:r>
            <a:br/>
            <a:r>
              <a:t>shadcn/ui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>
                <a:solidFill>
                  <a:srgbClr val="1E1E1E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200400"/>
            <a:ext cx="22860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4F3A65"/>
                </a:solidFill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>
                <a:solidFill>
                  <a:srgbClr val="1E1E1E"/>
                </a:solidFill>
              </a:defRPr>
            </a:pPr>
            <a:r>
              <a:t>FastAPI</a:t>
            </a:r>
            <a:br/>
            <a:r>
              <a:t>Pydantic validation</a:t>
            </a:r>
            <a:br/>
            <a:r>
              <a:t>Rate limits</a:t>
            </a:r>
            <a:br/>
            <a:r>
              <a:t>Privacy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>
                <a:solidFill>
                  <a:srgbClr val="1E1E1E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22860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4F3A65"/>
                </a:solidFill>
              </a:defRPr>
            </a:pPr>
            <a:r>
              <a:t>SAFETY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>
                <a:solidFill>
                  <a:srgbClr val="1E1E1E"/>
                </a:solidFill>
              </a:defRPr>
            </a:pPr>
            <a:r>
              <a:t>Scam Rules Analyzer</a:t>
            </a:r>
            <a:br/>
            <a:r>
              <a:t>URL Static Analyzer</a:t>
            </a:r>
            <a:br/>
            <a:r>
              <a:t>SEBI Adapter</a:t>
            </a:r>
            <a:br/>
            <a:r>
              <a:t>PII Redactor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657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0">
                <a:solidFill>
                  <a:srgbClr val="1E1E1E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3200400"/>
            <a:ext cx="228600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4F3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4F3A65"/>
                </a:solidFill>
              </a:defRPr>
            </a:pPr>
            <a: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200" b="0">
                <a:solidFill>
                  <a:srgbClr val="1E1E1E"/>
                </a:solidFill>
              </a:defRPr>
            </a:pPr>
            <a:r>
              <a:t>PostgreSQL</a:t>
            </a:r>
            <a:br/>
            <a:r>
              <a:t>Ephemeral storage</a:t>
            </a:r>
            <a:br/>
            <a:r>
              <a:t>Vector DB (RAG)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Technical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000" b="0">
                <a:solidFill>
                  <a:srgbClr val="1E1E1E"/>
                </a:solidFill>
              </a:defRPr>
            </a:pPr>
            <a:r>
              <a:t>Built with strict engineering standards. 66 backend tests (FP/FN harness), strict type checking, Dockerized environments, and reproducible builds.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>
                <a:solidFill>
                  <a:srgbClr val="1E1E1E"/>
                </a:solidFill>
              </a:defRPr>
            </a:pPr>
            <a:r>
              <a:t>• Strict Privacy: Redaction intercepts PAN, Aadhaar, Phone, Email, UPI before any persistence.</a:t>
            </a:r>
            <a:br/>
            <a:r>
              <a:t>• Threat Model Mitigations: No sockets opened for URL checks (prevents SSRF). Rate limited at 30 req/min.</a:t>
            </a:r>
            <a:br/>
            <a:r>
              <a:t>• AI usage: RAG chatbot uses embeddings. Critical flags are 100% deterministic, no LLM involved.</a:t>
            </a:r>
            <a:br/>
            <a:r>
              <a:t>• Security Scans: Gitleaks, Semgrep, Trivy ready. Docker containerized as non-root.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71600"/>
            <a:ext cx="12188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005840"/>
            <a:ext cx="731520" cy="73152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1E1E1E"/>
                </a:solidFill>
              </a:defRPr>
            </a:pPr>
            <a:r>
              <a:t>Impact and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4F3A65"/>
                </a:solidFill>
              </a:defRPr>
            </a:pPr>
            <a:r>
              <a:t>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Evaluation Cases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4F3A65"/>
                </a:solidFill>
              </a:defRPr>
            </a:pPr>
            <a: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False Positives in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4F3A65"/>
                </a:solidFill>
              </a:defRPr>
            </a:pPr>
            <a:r>
              <a:t>72-Hour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Max Data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4F3A65"/>
                </a:solidFill>
              </a:defRPr>
            </a:pPr>
            <a:r>
              <a:t>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4747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1E1E1E"/>
                </a:solidFill>
              </a:defRPr>
            </a:pPr>
            <a:r>
              <a:t>Languages Supported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1E1E1E"/>
                </a:solidFill>
              </a:defRPr>
            </a:pPr>
            <a:r>
              <a:t>Note: Evaluated on synthetic FP/FN harness targeting known scam patterns (guaranteed returns, urgency, credentials).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71600" y="1828800"/>
            <a:ext cx="2286000" cy="2286000"/>
          </a:xfrm>
          <a:prstGeom prst="ellipse">
            <a:avLst/>
          </a:prstGeom>
          <a:solidFill>
            <a:srgbClr val="918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7200" b="0">
                <a:solidFill>
                  <a:srgbClr val="1E1E1E"/>
                </a:solidFill>
              </a:defRPr>
            </a:pPr>
            <a: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286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7200" b="1">
                <a:solidFill>
                  <a:srgbClr val="1E1E1E"/>
                </a:solidFill>
              </a:defRPr>
            </a:pPr>
            <a:r>
              <a:t>Thank You!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2926080"/>
            <a:ext cx="4114800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2926080"/>
            <a:ext cx="3044952" cy="0"/>
          </a:xfrm>
          <a:prstGeom prst="line">
            <a:avLst/>
          </a:prstGeom>
          <a:ln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1">
                <a:solidFill>
                  <a:srgbClr val="4F3A65"/>
                </a:solidFill>
              </a:defRPr>
            </a:pPr>
            <a:r>
              <a:t>CONTACT · [Contact Email] · [Repo Link] · Live demo available on request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4F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48872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